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OVERALL_LI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South</c:v>
                  </c:pt>
                  <c:pt idx="1">
                    <c:v>West</c:v>
                  </c:pt>
                  <c:pt idx="2">
                    <c:v>Northeast</c:v>
                  </c:pt>
                  <c:pt idx="3">
                    <c:v>North</c:v>
                  </c:pt>
                  <c:pt idx="4">
                    <c:v>Central</c:v>
                  </c:pt>
                  <c:pt idx="5">
                    <c:v>East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83.29</c:v>
                </c:pt>
                <c:pt idx="1">
                  <c:v>82.91</c:v>
                </c:pt>
                <c:pt idx="2">
                  <c:v>79.98</c:v>
                </c:pt>
                <c:pt idx="3">
                  <c:v>76.68</c:v>
                </c:pt>
                <c:pt idx="4">
                  <c:v>70.84</c:v>
                </c:pt>
                <c:pt idx="5">
                  <c:v>70.54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OVERALL_LI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cat>
            <c:multiLvlStrRef>
              <c:f>Sheet1!$A$2:$A$15</c:f>
              <c:multiLvlStrCache>
                <c:ptCount val="14"/>
                <c:lvl>
                  <c:pt idx="0">
                    <c:v>P_URB_POP</c:v>
                  </c:pt>
                  <c:pt idx="1">
                    <c:v>SCHTOTP_P</c:v>
                  </c:pt>
                  <c:pt idx="2">
                    <c:v>KIDSPERSCH</c:v>
                  </c:pt>
                  <c:pt idx="3">
                    <c:v>POP_DENSITY</c:v>
                  </c:pt>
                  <c:pt idx="4">
                    <c:v>KIDSPERCL</c:v>
                  </c:pt>
                  <c:pt idx="5">
                    <c:v>SC_ST_POP</c:v>
                  </c:pt>
                  <c:pt idx="6">
                    <c:v>GROWTHRATE</c:v>
                  </c:pt>
                  <c:pt idx="7">
                    <c:v>SEXRATIO</c:v>
                  </c:pt>
                  <c:pt idx="8">
                    <c:v>SCHTOTM_P</c:v>
                  </c:pt>
                  <c:pt idx="9">
                    <c:v>SCHTOTG_P</c:v>
                  </c:pt>
                  <c:pt idx="10">
                    <c:v>P_RUR_POP</c:v>
                  </c:pt>
                  <c:pt idx="11">
                    <c:v>CONTIE</c:v>
                  </c:pt>
                  <c:pt idx="12">
                    <c:v>DROP_8_9</c:v>
                  </c:pt>
                  <c:pt idx="13">
                    <c:v>DIFF_LIT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0.446</c:v>
                </c:pt>
                <c:pt idx="1">
                  <c:v>0.346</c:v>
                </c:pt>
                <c:pt idx="2">
                  <c:v>0.309</c:v>
                </c:pt>
                <c:pt idx="3">
                  <c:v>0.242</c:v>
                </c:pt>
                <c:pt idx="4">
                  <c:v>0.167</c:v>
                </c:pt>
                <c:pt idx="5">
                  <c:v>0.077</c:v>
                </c:pt>
                <c:pt idx="6">
                  <c:v>0.041</c:v>
                </c:pt>
                <c:pt idx="7">
                  <c:v>-0.038</c:v>
                </c:pt>
                <c:pt idx="8">
                  <c:v>-0.17</c:v>
                </c:pt>
                <c:pt idx="9">
                  <c:v>-0.306</c:v>
                </c:pt>
                <c:pt idx="10">
                  <c:v>-0.446</c:v>
                </c:pt>
                <c:pt idx="11">
                  <c:v>-0.481</c:v>
                </c:pt>
                <c:pt idx="12">
                  <c:v>-0.703</c:v>
                </c:pt>
                <c:pt idx="13">
                  <c:v>-0.733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-0.8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Literacy (%)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Bihar</c:v>
                  </c:pt>
                  <c:pt idx="1">
                    <c:v>Telangana</c:v>
                  </c:pt>
                  <c:pt idx="2">
                    <c:v>Arunachal Pr.</c:v>
                  </c:pt>
                  <c:pt idx="3">
                    <c:v>Rajasthan</c:v>
                  </c:pt>
                  <c:pt idx="4">
                    <c:v>Jharkhand</c:v>
                  </c:pt>
                  <c:pt idx="5">
                    <c:v/>
                  </c:pt>
                  <c:pt idx="6">
                    <c:v>Goa</c:v>
                  </c:pt>
                  <c:pt idx="7">
                    <c:v>Tripura</c:v>
                  </c:pt>
                  <c:pt idx="8">
                    <c:v>Mizoram</c:v>
                  </c:pt>
                  <c:pt idx="9">
                    <c:v>Lakshadweep</c:v>
                  </c:pt>
                  <c:pt idx="10">
                    <c:v>Kerala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63.82</c:v>
                </c:pt>
                <c:pt idx="1">
                  <c:v>66.46</c:v>
                </c:pt>
                <c:pt idx="2">
                  <c:v>66.95</c:v>
                </c:pt>
                <c:pt idx="3">
                  <c:v>67.06</c:v>
                </c:pt>
                <c:pt idx="4">
                  <c:v>67.63</c:v>
                </c:pt>
                <c:pt idx="5">
                  <c:v/>
                </c:pt>
                <c:pt idx="6">
                  <c:v>87.4</c:v>
                </c:pt>
                <c:pt idx="7">
                  <c:v>87.75</c:v>
                </c:pt>
                <c:pt idx="8">
                  <c:v>91.58</c:v>
                </c:pt>
                <c:pt idx="9">
                  <c:v>92.28</c:v>
                </c:pt>
                <c:pt idx="10">
                  <c:v>93.91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(pts)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Rajasthan</c:v>
                  </c:pt>
                  <c:pt idx="1">
                    <c:v>Jharkhand</c:v>
                  </c:pt>
                  <c:pt idx="2">
                    <c:v>Chhattisgarh</c:v>
                  </c:pt>
                  <c:pt idx="3">
                    <c:v>Dadra &amp; N.H.</c:v>
                  </c:pt>
                  <c:pt idx="4">
                    <c:v>Madhya Pr.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27.85</c:v>
                </c:pt>
                <c:pt idx="1">
                  <c:v>22.24</c:v>
                </c:pt>
                <c:pt idx="2">
                  <c:v>20.86</c:v>
                </c:pt>
                <c:pt idx="3">
                  <c:v>20.53</c:v>
                </c:pt>
                <c:pt idx="4">
                  <c:v>20.51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(pts)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Meghalaya</c:v>
                  </c:pt>
                  <c:pt idx="1">
                    <c:v>Kerala</c:v>
                  </c:pt>
                  <c:pt idx="2">
                    <c:v>Mizoram</c:v>
                  </c:pt>
                  <c:pt idx="3">
                    <c:v>Nagaland</c:v>
                  </c:pt>
                  <c:pt idx="4">
                    <c:v>Lakshadweep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3.39</c:v>
                </c:pt>
                <c:pt idx="1">
                  <c:v>4.04</c:v>
                </c:pt>
                <c:pt idx="2">
                  <c:v>4.32</c:v>
                </c:pt>
                <c:pt idx="3">
                  <c:v>6.6</c:v>
                </c:pt>
                <c:pt idx="4">
                  <c:v>7.86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Male-Female Literacy Gap (pts)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Kerala</c:v>
                  </c:pt>
                  <c:pt idx="1">
                    <c:v>Lakshadweep</c:v>
                  </c:pt>
                  <c:pt idx="2">
                    <c:v>Mizoram</c:v>
                  </c:pt>
                  <c:pt idx="3">
                    <c:v>Rajasthan</c:v>
                  </c:pt>
                  <c:pt idx="4">
                    <c:v>Arunachal Pr.</c:v>
                  </c:pt>
                  <c:pt idx="5">
                    <c:v>Bihar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4.04</c:v>
                </c:pt>
                <c:pt idx="1">
                  <c:v>7.86</c:v>
                </c:pt>
                <c:pt idx="2">
                  <c:v>4.32</c:v>
                </c:pt>
                <c:pt idx="3">
                  <c:v>27.85</c:v>
                </c:pt>
                <c:pt idx="4">
                  <c:v>14.12</c:v>
                </c:pt>
                <c:pt idx="5">
                  <c:v>20.06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Rural Population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Kerala</c:v>
                  </c:pt>
                  <c:pt idx="1">
                    <c:v>Lakshadweep</c:v>
                  </c:pt>
                  <c:pt idx="2">
                    <c:v>Mizoram</c:v>
                  </c:pt>
                  <c:pt idx="3">
                    <c:v>Rajasthan</c:v>
                  </c:pt>
                  <c:pt idx="4">
                    <c:v>Arunachal Pr.</c:v>
                  </c:pt>
                  <c:pt idx="5">
                    <c:v>Bihar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75.24</c:v>
                </c:pt>
                <c:pt idx="1">
                  <c:v>58.14</c:v>
                </c:pt>
                <c:pt idx="2">
                  <c:v>59.58</c:v>
                </c:pt>
                <c:pt idx="3">
                  <c:v>80.74</c:v>
                </c:pt>
                <c:pt idx="4">
                  <c:v>83.52</c:v>
                </c:pt>
                <c:pt idx="5">
                  <c:v>91.64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Private School Share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Kerala</c:v>
                  </c:pt>
                  <c:pt idx="1">
                    <c:v>Lakshadweep</c:v>
                  </c:pt>
                  <c:pt idx="2">
                    <c:v>Mizoram</c:v>
                  </c:pt>
                  <c:pt idx="3">
                    <c:v>Rajasthan</c:v>
                  </c:pt>
                  <c:pt idx="4">
                    <c:v>Arunachal Pr.</c:v>
                  </c:pt>
                  <c:pt idx="5">
                    <c:v>Bihar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0</c:v>
                </c:pt>
                <c:pt idx="2">
                  <c:v>26</c:v>
                </c:pt>
                <c:pt idx="3">
                  <c:v>32</c:v>
                </c:pt>
                <c:pt idx="4">
                  <c:v>13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8→9 Dropout Rate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Kerala</c:v>
                  </c:pt>
                  <c:pt idx="1">
                    <c:v>Lakshadweep</c:v>
                  </c:pt>
                  <c:pt idx="2">
                    <c:v>Mizoram</c:v>
                  </c:pt>
                  <c:pt idx="3">
                    <c:v>Rajasthan</c:v>
                  </c:pt>
                  <c:pt idx="4">
                    <c:v>Arunachal Pr.</c:v>
                  </c:pt>
                  <c:pt idx="5">
                    <c:v>Bihar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</c:v>
                </c:pt>
                <c:pt idx="1">
                  <c:v>-29</c:v>
                </c:pt>
                <c:pt idx="2">
                  <c:v>-3</c:v>
                </c:pt>
                <c:pt idx="3">
                  <c:v>4.4</c:v>
                </c:pt>
                <c:pt idx="4">
                  <c:v>10</c:v>
                </c:pt>
                <c:pt idx="5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Dropout rate (%)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1→2</c:v>
                  </c:pt>
                  <c:pt idx="1">
                    <c:v>2→3</c:v>
                  </c:pt>
                  <c:pt idx="2">
                    <c:v>3→4</c:v>
                  </c:pt>
                  <c:pt idx="3">
                    <c:v>4→5</c:v>
                  </c:pt>
                  <c:pt idx="4">
                    <c:v>5→6</c:v>
                  </c:pt>
                  <c:pt idx="5">
                    <c:v>6→7</c:v>
                  </c:pt>
                  <c:pt idx="6">
                    <c:v>7→8</c:v>
                  </c:pt>
                  <c:pt idx="7">
                    <c:v>8→9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4.98</c:v>
                </c:pt>
                <c:pt idx="1">
                  <c:v>1.47</c:v>
                </c:pt>
                <c:pt idx="2">
                  <c:v>-0.85</c:v>
                </c:pt>
                <c:pt idx="3">
                  <c:v>2.36</c:v>
                </c:pt>
                <c:pt idx="4">
                  <c:v>8.06</c:v>
                </c:pt>
                <c:pt idx="5">
                  <c:v>1.97</c:v>
                </c:pt>
                <c:pt idx="6">
                  <c:v>2.61</c:v>
                </c:pt>
                <c:pt idx="7">
                  <c:v>6.84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Class transition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Dropout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Regression</c:v>
                  </c:pt>
                  <c:pt idx="1">
                    <c:v>Ridge Regression</c:v>
                  </c:pt>
                  <c:pt idx="2">
                    <c:v>Gradient Boosting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-1.232</c:v>
                </c:pt>
                <c:pt idx="1">
                  <c:v>-0.103</c:v>
                </c:pt>
                <c:pt idx="2">
                  <c:v>0.447</c:v>
                </c:pt>
                <c:pt idx="3">
                  <c:v>0.555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-1.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Regression</c:v>
                  </c:pt>
                  <c:pt idx="1">
                    <c:v>Ridge Regression</c:v>
                  </c:pt>
                  <c:pt idx="2">
                    <c:v>Gradient Boosting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12.16</c:v>
                </c:pt>
                <c:pt idx="1">
                  <c:v>8.55</c:v>
                </c:pt>
                <c:pt idx="2">
                  <c:v>6.06</c:v>
                </c:pt>
                <c:pt idx="3">
                  <c:v>5.43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cat>
            <c:multiLvlStrRef>
              <c:f>Sheet1!$A$2:$A$15</c:f>
              <c:multiLvlStrCache>
                <c:ptCount val="14"/>
                <c:lvl>
                  <c:pt idx="0">
                    <c:v>SCHTOTP_P</c:v>
                  </c:pt>
                  <c:pt idx="1">
                    <c:v>KIDSPERCL</c:v>
                  </c:pt>
                  <c:pt idx="2">
                    <c:v>P_ST_POP</c:v>
                  </c:pt>
                  <c:pt idx="3">
                    <c:v>SCHTOTG_P</c:v>
                  </c:pt>
                  <c:pt idx="4">
                    <c:v>SEXRATIO</c:v>
                  </c:pt>
                  <c:pt idx="5">
                    <c:v>POP_DENSITY</c:v>
                  </c:pt>
                  <c:pt idx="6">
                    <c:v>P_RUR_POP</c:v>
                  </c:pt>
                  <c:pt idx="7">
                    <c:v>P_URB_POP</c:v>
                  </c:pt>
                  <c:pt idx="8">
                    <c:v>KIDSPERSCH</c:v>
                  </c:pt>
                  <c:pt idx="9">
                    <c:v>P_SC_POP</c:v>
                  </c:pt>
                  <c:pt idx="10">
                    <c:v>SCHTOTM_P</c:v>
                  </c:pt>
                  <c:pt idx="11">
                    <c:v>CONTIE</c:v>
                  </c:pt>
                  <c:pt idx="12">
                    <c:v>GROWTHRATE</c:v>
                  </c:pt>
                  <c:pt idx="13">
                    <c:v>DROP_8_9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0.011</c:v>
                </c:pt>
                <c:pt idx="1">
                  <c:v>0.013</c:v>
                </c:pt>
                <c:pt idx="2">
                  <c:v>0.012</c:v>
                </c:pt>
                <c:pt idx="3">
                  <c:v>0.016</c:v>
                </c:pt>
                <c:pt idx="4">
                  <c:v>0.019</c:v>
                </c:pt>
                <c:pt idx="5">
                  <c:v>0.02</c:v>
                </c:pt>
                <c:pt idx="6">
                  <c:v>0.022</c:v>
                </c:pt>
                <c:pt idx="7">
                  <c:v>0.023</c:v>
                </c:pt>
                <c:pt idx="8">
                  <c:v>0.023</c:v>
                </c:pt>
                <c:pt idx="9">
                  <c:v>0.025</c:v>
                </c:pt>
                <c:pt idx="10">
                  <c:v>0.03</c:v>
                </c:pt>
                <c:pt idx="11">
                  <c:v>0.031</c:v>
                </c:pt>
                <c:pt idx="12">
                  <c:v>0.063</c:v>
                </c:pt>
                <c:pt idx="13">
                  <c:v>0.676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429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5" name="Image 0" descr="assets/icon_grad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2380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Literacy Rate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Statewise Analysis &amp; Predictive Modeling — 2015-16 DISE Elementary Education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663440"/>
            <a:ext cx="1531620" cy="384048"/>
          </a:xfrm>
          <a:prstGeom prst="roundRect">
            <a:avLst>
              <a:gd name="adj" fmla="val 50000"/>
            </a:avLst>
          </a:prstGeom>
          <a:solidFill>
            <a:srgbClr val="142942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663440"/>
            <a:ext cx="1531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States / UTs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37460" y="4663440"/>
            <a:ext cx="1531620" cy="384048"/>
          </a:xfrm>
          <a:prstGeom prst="roundRect">
            <a:avLst>
              <a:gd name="adj" fmla="val 50000"/>
            </a:avLst>
          </a:prstGeom>
          <a:solidFill>
            <a:srgbClr val="142942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37460" y="4663440"/>
            <a:ext cx="1531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Indicators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51960" y="4663440"/>
            <a:ext cx="1956816" cy="384048"/>
          </a:xfrm>
          <a:prstGeom prst="roundRect">
            <a:avLst>
              <a:gd name="adj" fmla="val 50000"/>
            </a:avLst>
          </a:prstGeom>
          <a:solidFill>
            <a:srgbClr val="142942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46634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Ridge/RF/GB Models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91656" y="4663440"/>
            <a:ext cx="2382012" cy="384048"/>
          </a:xfrm>
          <a:prstGeom prst="roundRect">
            <a:avLst>
              <a:gd name="adj" fmla="val 50000"/>
            </a:avLst>
          </a:prstGeom>
          <a:solidFill>
            <a:srgbClr val="142942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91656" y="4663440"/>
            <a:ext cx="23820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8-Phase CRISP-DM Workflow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2015-16 Statewise Elementary dataset (District Information System for Education)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phases, following the CRISP-DM methodology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8" name="Image 0" descr="assets/icon_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5087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1837944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1837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63040" y="16550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463040" y="20391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four guiding questions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26480" y="15087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27648" y="1837944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3"/>
          <p:cNvSpPr/>
          <p:nvPr/>
        </p:nvSpPr>
        <p:spPr>
          <a:xfrm>
            <a:off x="6327648" y="1837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6550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040880" y="20391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inspect &amp; profile the dataset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28803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9808" y="3209544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8"/>
          <p:cNvSpPr/>
          <p:nvPr/>
        </p:nvSpPr>
        <p:spPr>
          <a:xfrm>
            <a:off x="749808" y="3209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63040" y="30266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463040" y="34107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every feature used downstream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26480" y="28803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27648" y="3209544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3"/>
          <p:cNvSpPr/>
          <p:nvPr/>
        </p:nvSpPr>
        <p:spPr>
          <a:xfrm>
            <a:off x="6327648" y="3209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040880" y="30266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040880" y="34107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patterns, answer Q1-Q3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4251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49808" y="4581144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463040" y="43982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1463040" y="47823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4 ML models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26480" y="4251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327648" y="4581144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6" name="Text 33"/>
          <p:cNvSpPr/>
          <p:nvPr/>
        </p:nvSpPr>
        <p:spPr>
          <a:xfrm>
            <a:off x="6327648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7040880" y="43982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1550" dirty="0"/>
          </a:p>
        </p:txBody>
      </p:sp>
      <p:sp>
        <p:nvSpPr>
          <p:cNvPr id="38" name="Text 35"/>
          <p:cNvSpPr/>
          <p:nvPr/>
        </p:nvSpPr>
        <p:spPr>
          <a:xfrm>
            <a:off x="7040880" y="47823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sanity checks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548640" y="56235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9808" y="5952744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1" name="Text 38"/>
          <p:cNvSpPr/>
          <p:nvPr/>
        </p:nvSpPr>
        <p:spPr>
          <a:xfrm>
            <a:off x="749808" y="5952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1463040" y="57698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Recommendations</a:t>
            </a:r>
            <a:endParaRPr lang="en-US" sz="1550" dirty="0"/>
          </a:p>
        </p:txBody>
      </p:sp>
      <p:sp>
        <p:nvSpPr>
          <p:cNvPr id="43" name="Text 40"/>
          <p:cNvSpPr/>
          <p:nvPr/>
        </p:nvSpPr>
        <p:spPr>
          <a:xfrm>
            <a:off x="1463040" y="61539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action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126480" y="56235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327648" y="5952744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6" name="Text 43"/>
          <p:cNvSpPr/>
          <p:nvPr/>
        </p:nvSpPr>
        <p:spPr>
          <a:xfrm>
            <a:off x="6327648" y="5952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7040880" y="57698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1550" dirty="0"/>
          </a:p>
        </p:txBody>
      </p:sp>
      <p:sp>
        <p:nvSpPr>
          <p:cNvPr id="48" name="Text 45"/>
          <p:cNvSpPr/>
          <p:nvPr/>
        </p:nvSpPr>
        <p:spPr>
          <a:xfrm>
            <a:off x="7040880" y="61539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can't tell us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this project sets out to 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0" descr="assets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34286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6367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have the highest and lowest literacy rates?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26480" y="1417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691640"/>
            <a:ext cx="594360" cy="594360"/>
          </a:xfrm>
          <a:prstGeom prst="ellipse">
            <a:avLst/>
          </a:prstGeom>
          <a:solidFill>
            <a:srgbClr val="457B9D"/>
          </a:solidFill>
          <a:ln/>
        </p:spPr>
      </p:sp>
      <p:pic>
        <p:nvPicPr>
          <p:cNvPr id="13" name="Image 1" descr="assets/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183428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6367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00800" y="23317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top 3 states differ from the bottom 3 — and what can the laggards do?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93192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8" name="Image 2" descr="assets/icon_arrow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07456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770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22960" y="45720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school class is the student dropout rate highest?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126480" y="36576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3931920"/>
            <a:ext cx="594360" cy="59436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3" name="Image 3" descr="assets/icon_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4074566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38770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6400800" y="45720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literacy rate be predicted from demographic &amp; schooling indicators?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2015-16 Statewise Elementary education data (DISE)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18488"/>
            <a:ext cx="24231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24231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Union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618488"/>
            <a:ext cx="24231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441448"/>
            <a:ext cx="24231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 after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618488"/>
            <a:ext cx="24231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441448"/>
            <a:ext cx="24231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Indicator Fields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1618488"/>
            <a:ext cx="24231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0" y="2441448"/>
            <a:ext cx="24231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Modeling (Phase 3)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source files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7315200" cy="13716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2015_16_Statewise_Elementary.csv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state/UT with ~800 education, demographic &amp; infrastructure indicators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2015_16_Statewise_Elementary_Metadata.csv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 -&gt; plain-English description lookup for every column above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183880" y="3429000"/>
            <a:ext cx="3474720" cy="260604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12480" y="3657600"/>
            <a:ext cx="502920" cy="502920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22" name="Image 0" descr="asset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3181" y="3778301"/>
            <a:ext cx="261518" cy="2615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052560" y="36758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Highlights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412480" y="42519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Male-Female literacy gap (DIFF_LIT)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 share (P_RUR_POP)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8 -&gt; 9 dropout rate (DROP_8_9)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/ Private / Madrasa school mix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grouping (all 36 states mapped)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Literacy Snapshot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figures across all 36 states &amp; 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7276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78.3%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313432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Overall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Rate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57276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313432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Male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57276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313432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Female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Rate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157276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 pts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0" y="2313432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Male-Female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Gap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Overall Literacy Rate by Region</a:t>
            </a:r>
            <a:endParaRPr lang="en-US" sz="16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566160"/>
          <a:ext cx="7132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8001000" y="356616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0" y="37947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2" name="Image 0" descr="assets/icon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0448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823960" y="3803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read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229600" y="429768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and West lead on literacy. Northeast follows closely with the widest internal spread. North and Central India cluster lower, and East India — driven largely by Bihar — reports the lowest regional median.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Correlates With Literacy?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of each indicator with OVERALL_LI, across all 36 states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8638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417320"/>
            <a:ext cx="3063240" cy="4937760"/>
          </a:xfrm>
          <a:prstGeom prst="roundRect">
            <a:avLst>
              <a:gd name="adj" fmla="val 298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8696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69680" y="2103120"/>
            <a:ext cx="2606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negative drivers: male-female literacy gap and Class 8-&gt;9 dropout rate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driver: urban population share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 and SC/ST population share sit near zero — weak relationship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DIFF_LIT is excluded from the Phase 5 model (definitional overlap with OVERALL_LI)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— Highest &amp; Lowest Literacy States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literacy rate, top 5 vs. bottom 5 states/UTs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9552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417320"/>
            <a:ext cx="2971800" cy="4937760"/>
          </a:xfrm>
          <a:prstGeom prst="roundRect">
            <a:avLst>
              <a:gd name="adj" fmla="val 3077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15400" y="16459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9" name="Image 0" descr="assets/icon_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28" y="17556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0976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performer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915400" y="21031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Kerala: 93.9% overall — highest in the country, with a 4.0 pt gender gap, the smallest of any large state.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915400" y="324612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3" name="Image 1" descr="assets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8" y="33558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976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attention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915400" y="3703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Bihar: 63.8% overall — lowest nationally, with a 20.1 pt gender gap and the highest kids-per-school ratio.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915400" y="48463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30.1 percentage points separate the highest and lowest state literacy rates.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Gender Literacy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literacy minus female literacy (DIFF_LIT), by state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gaps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37360"/>
          <a:ext cx="5394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Smallest gaps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1737360"/>
          <a:ext cx="5394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343400"/>
            <a:ext cx="11109960" cy="1828800"/>
          </a:xfrm>
          <a:prstGeom prst="roundRect">
            <a:avLst>
              <a:gd name="adj" fmla="val 500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4617720"/>
            <a:ext cx="640080" cy="640080"/>
          </a:xfrm>
          <a:prstGeom prst="ellipse">
            <a:avLst/>
          </a:prstGeom>
          <a:solidFill>
            <a:srgbClr val="457B9D"/>
          </a:solidFill>
          <a:ln/>
        </p:spPr>
      </p:sp>
      <p:pic>
        <p:nvPicPr>
          <p:cNvPr id="12" name="Image 0" descr="assets/icon_gen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77133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461772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states average a </a:t>
            </a:r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pt</a:t>
            </a:r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gender gap — well below the </a:t>
            </a:r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 pt national average</a:t>
            </a:r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Meghalaya's female literacy rate alone exceeds the national female average, unusual for a state also outside the top overall performers.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— Top 3 vs. Bottom 3 States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across key indicators (Telangana excluded — new state, 2014)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3383280"/>
        </p:xfrm>
        <a:graphic>
          <a:graphicData uri="http://schemas.openxmlformats.org/drawingml/2006/table">
            <a:tbl>
              <a:tblPr/>
              <a:tblGrid>
                <a:gridCol w="1874520"/>
                <a:gridCol w="1234440"/>
                <a:gridCol w="1188720"/>
                <a:gridCol w="1280160"/>
                <a:gridCol w="914400"/>
                <a:gridCol w="1188720"/>
                <a:gridCol w="1691640"/>
                <a:gridCol w="1737360"/>
              </a:tblGrid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Schools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8-&gt;9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Lakshadweep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Mizoram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Rajasthan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Arunachal Pradesh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7492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0749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rows = top 3 states   </a:t>
            </a:r>
            <a:pPr indent="0" marL="0">
              <a:buNone/>
            </a:pPr>
            <a:r>
              <a:rPr lang="en-US" sz="12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Coral rows = bottom 3 states   |   </a:t>
            </a:r>
            <a:pPr indent="0" marL="0">
              <a:buNone/>
            </a:pPr>
            <a:r>
              <a:rPr lang="en-US" sz="12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gaps: gender literacy gap, rural population share, and Class 8→’Class 9 dropout rate.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— What Really Separates Them?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(teal) vs. Bottom 3 (coral) states across four indicators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Male-Female Literacy Gap (pts)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73352"/>
          <a:ext cx="54406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39903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Population (%)</a:t>
            </a:r>
            <a:endParaRPr lang="en-US" sz="12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1673352"/>
          <a:ext cx="54406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395935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School Share (%)</a:t>
            </a:r>
            <a:endParaRPr lang="en-US" sz="125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548640" y="4233672"/>
          <a:ext cx="54406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6263640" y="395935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8→9 Dropout Rate (%)</a:t>
            </a:r>
            <a:endParaRPr lang="en-US" sz="1250" dirty="0"/>
          </a:p>
        </p:txBody>
      </p:sp>
      <p:graphicFrame>
        <p:nvGraphicFramePr>
          <p:cNvPr id="13" name="Chart 3" descr=""/>
          <p:cNvGraphicFramePr/>
          <p:nvPr/>
        </p:nvGraphicFramePr>
        <p:xfrm>
          <a:off x="6263640" y="4233672"/>
          <a:ext cx="54406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— Where Do Students Drop Out?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dropout rate by class-to-class transition (all states combined)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955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463040"/>
            <a:ext cx="2971800" cy="4846320"/>
          </a:xfrm>
          <a:prstGeom prst="roundRect">
            <a:avLst>
              <a:gd name="adj" fmla="val 3077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15400" y="169164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9" name="Image 0" descr="assets/icon_arr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28" y="18013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15400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dropout: Class 5→6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915400" y="2743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8.06% of Class 5 students are not found in Class 6 the following year — the steepest drop nationally.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91540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Runner-up: Class 8→9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915400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6.84% dropout at the primary-to-secondary transition.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91540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 spot: Class 3→4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915400" y="5257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dropout (net retention gain) — the only transition where enrolment grows.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structural indicators predict a state's literacy rate?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365760" cy="36576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0" name="Image 0" descr="asset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690" y="2483510"/>
            <a:ext cx="427939" cy="42793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Features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794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+ schooling-infrastructure indicators only — MALE_LIT / FEMALE_LIT / DIFF_LIT excluded to avoid leakage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54680" y="3108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383280" y="16002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66160" y="1783080"/>
            <a:ext cx="365760" cy="36576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16" name="Text 13"/>
          <p:cNvSpPr/>
          <p:nvPr/>
        </p:nvSpPr>
        <p:spPr>
          <a:xfrm>
            <a:off x="35661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74820" y="228600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8" name="Image 1" descr="assets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330" y="2483510"/>
            <a:ext cx="427939" cy="42793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CV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611880" y="3794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states is too small for a single train/test split; every state is tested exactly once across 5 rotating folds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989320" y="3108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217920" y="16002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0" y="1783080"/>
            <a:ext cx="365760" cy="36576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7109460" y="228600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6" name="Image 2" descr="assets/icon_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970" y="2483510"/>
            <a:ext cx="427939" cy="42793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080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Models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46520" y="3794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Ridge Regression, Random Forest, Gradient Boosting — compared on identical folds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823960" y="3108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9052560" y="16002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235440" y="1783080"/>
            <a:ext cx="365760" cy="36576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2" name="Text 27"/>
          <p:cNvSpPr/>
          <p:nvPr/>
        </p:nvSpPr>
        <p:spPr>
          <a:xfrm>
            <a:off x="92354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9944100" y="228600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4" name="Image 3" descr="assets/icon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610" y="2483510"/>
            <a:ext cx="427939" cy="427939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2354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281160" y="3794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cross-validated R² and RMSE, then inspected for feature importance in Phase 6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cross-validated performance predicting OVERALL_LI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Cross-Validated R² (higher is better)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3736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Cross-Validated RMSE (lower is better)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173736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251960"/>
            <a:ext cx="1110996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0" descr="assets/icon_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65795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wins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60020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0.555, RMSE = 5.43 percentage points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852160" y="452628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Regression performs worse than predicting the national average for every state (R² &lt; 0) — a classic small-sample overfitting symptom. Adding regularization (Ridge) recovers much of that lost performance, and tree-based models handle the correlated, small feature set best of all.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importance, fit on the full 36-state dataset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8638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417320"/>
            <a:ext cx="3063240" cy="4937760"/>
          </a:xfrm>
          <a:prstGeom prst="roundRect">
            <a:avLst>
              <a:gd name="adj" fmla="val 298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869680" y="164592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9" name="Image 0" descr="assets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8" y="17556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6968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feature dominates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869680" y="2743200"/>
            <a:ext cx="2651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DROP_8_9 (Class 8→9 dropout rate) accounts for 68% of the Random Forest's predictive power — far more than any other feature.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independently confirms the Phase 4 finding: retention through the primary-to-secondary transition is the single strongest lever for improving a state's literacy rate.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highest-leverage actions suggested by this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74520" y="1920240"/>
            <a:ext cx="914400" cy="9144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8" name="Image 0" descr="assets/icon_fem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21396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gender gap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girls' education specifically: female teachers, safe transport, and family incentives, rather than generic literacy campaigns.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15968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41848" y="192024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3" name="Image 1" descr="assets/icon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1396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rural access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840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 share is one of the strongest, most consistent differentiators between high- and low-literacy states.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3296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09176" y="1920240"/>
            <a:ext cx="914400" cy="914400"/>
          </a:xfrm>
          <a:prstGeom prst="ellipse">
            <a:avLst/>
          </a:prstGeom>
          <a:solidFill>
            <a:srgbClr val="457B9D"/>
          </a:solidFill>
          <a:ln/>
        </p:spPr>
      </p:sp>
      <p:pic>
        <p:nvPicPr>
          <p:cNvPr id="18" name="Image 2" descr="assets/icon_sch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213969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11896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Class 5→6 and 8→9 leaks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403336" y="3840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transitions account for the steepest enrolment drops nationally — and DROP_8_9 alone drives 68% of the model's predictions.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what this analysis can and can't tell 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CEEE9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8" name="Image 0" descr="asset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33172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Correlational, not causal — associations found here don't prove what drives literacy.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cross-section (2015-16) — no trend-over-time visibility; Telangana's figures reflect a very new state.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36 observations — the Phase 5 model has limited statistical power despite cross-validation.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GDP / wealth not controlled for — likely mediates school funding, urbanization &amp; affordability.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E8F5F3"/>
          </a:solidFill>
          <a:ln/>
          <a:effectLst>
            <a:outerShdw sx="100000" sy="100000" kx="0" ky="0" algn="bl" rotWithShape="0" blurRad="101600" dist="38100" dir="5400000">
              <a:srgbClr val="1D355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3" name="Image 1" descr="assets/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8123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37960" y="233172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district-level DISE data for a much larger sample and finer-grained modeling.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 external socio-economic indicators, e.g. state GDP per capita.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true panel model using multiple years of DISE releases.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geospatial choropleth map once state boundary data is available.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Investigation of the Indian Literacy Rate  |  2015-16 DISE Elementary Data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294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55448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5" name="Image 0" descr="assets/icon_grad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104" y="17739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2015-16 DISE Statewise Elementary dataset  |  Analysis built in Python (pandas, seaborn, scikit-learn)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Graphical Investigation of the Indian Literacy Rate</dc:title>
  <dc:subject>PptxGenJS Presentation</dc:subject>
  <dc:creator>Literacy Analysis Project</dc:creator>
  <cp:lastModifiedBy>Literacy Analysis Project</cp:lastModifiedBy>
  <cp:revision>1</cp:revision>
  <dcterms:created xsi:type="dcterms:W3CDTF">2026-07-03T05:05:08Z</dcterms:created>
  <dcterms:modified xsi:type="dcterms:W3CDTF">2026-07-03T05:05:08Z</dcterms:modified>
</cp:coreProperties>
</file>